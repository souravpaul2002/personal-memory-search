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6858000" cx="9144000"/>
  <p:notesSz cx="7010400" cy="9296400"/>
  <p:embeddedFontLst>
    <p:embeddedFont>
      <p:font typeface="Helvetica Neue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79">
          <p15:clr>
            <a:srgbClr val="000000"/>
          </p15:clr>
        </p15:guide>
        <p15:guide id="2" pos="52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79" orient="horz"/>
        <p:guide pos="52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italic.fntdata"/><Relationship Id="rId20" Type="http://schemas.openxmlformats.org/officeDocument/2006/relationships/slide" Target="slides/slide14.xml"/><Relationship Id="rId41" Type="http://schemas.openxmlformats.org/officeDocument/2006/relationships/font" Target="fonts/HelveticaNeue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HelveticaNeue-bold.fntdata"/><Relationship Id="rId16" Type="http://schemas.openxmlformats.org/officeDocument/2006/relationships/slide" Target="slides/slide10.xml"/><Relationship Id="rId38" Type="http://schemas.openxmlformats.org/officeDocument/2006/relationships/font" Target="fonts/HelveticaNeue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3512" y="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933450" y="4416425"/>
            <a:ext cx="5143500" cy="41830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21" name="Google Shape;121;p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9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20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14" name="Google Shape;214;p2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21" name="Google Shape;221;p2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28" name="Google Shape;228;p2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23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36" name="Google Shape;236;p2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24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43" name="Google Shape;243;p2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5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50" name="Google Shape;250;p2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26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58" name="Google Shape;258;p2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27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68" name="Google Shape;268;p2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28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75" name="Google Shape;275;p2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29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82" name="Google Shape;282;p3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30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:notes"/>
          <p:cNvSpPr txBox="1"/>
          <p:nvPr/>
        </p:nvSpPr>
        <p:spPr>
          <a:xfrm>
            <a:off x="3973512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89" name="Google Shape;289;p3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31:notes"/>
          <p:cNvSpPr txBox="1"/>
          <p:nvPr>
            <p:ph idx="1" type="body"/>
          </p:nvPr>
        </p:nvSpPr>
        <p:spPr>
          <a:xfrm>
            <a:off x="935037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C33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  <a:defRPr/>
            </a:lvl1pPr>
            <a:lvl2pPr lvl="1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 rot="5400000">
            <a:off x="4895850" y="2047875"/>
            <a:ext cx="58801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 rot="5400000">
            <a:off x="781050" y="104775"/>
            <a:ext cx="58801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 rot="5400000">
            <a:off x="2193131" y="-284957"/>
            <a:ext cx="4903787" cy="766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370840" lvl="1" marL="914400" algn="l">
              <a:spcBef>
                <a:spcPts val="980"/>
              </a:spcBef>
              <a:spcAft>
                <a:spcPts val="0"/>
              </a:spcAft>
              <a:buSzPts val="2240"/>
              <a:buChar char="●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55600" lvl="3" marL="1828800" algn="l"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54" name="Google Shape;5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55" name="Google Shape;5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20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20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www.db-book.com/" TargetMode="External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2674937" y="5726112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600"/>
              <a:buFont typeface="Helvetica Neue"/>
              <a:buNone/>
            </a:pPr>
            <a:r>
              <a:rPr b="1" i="0" lang="en-US" sz="1600" u="none">
                <a:solidFill>
                  <a:srgbClr val="CC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6</a:t>
            </a:r>
            <a:r>
              <a:rPr b="1" baseline="30000" i="0" lang="en-US" sz="1600" u="none">
                <a:solidFill>
                  <a:srgbClr val="CC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600" u="none">
                <a:solidFill>
                  <a:srgbClr val="CC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</a:t>
            </a:r>
            <a:r>
              <a:rPr b="0" i="0" lang="en-US" sz="1600" u="none">
                <a:solidFill>
                  <a:srgbClr val="CC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Helvetica Neue"/>
              <a:buNone/>
            </a:pPr>
            <a:r>
              <a:rPr b="1" i="0" lang="en-US" sz="1200" u="none">
                <a:solidFill>
                  <a:srgbClr val="CC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i="0" lang="en-US" sz="1200" u="none">
                <a:solidFill>
                  <a:srgbClr val="CC33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200" u="none">
                <a:solidFill>
                  <a:srgbClr val="CC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i="0" lang="en-US" sz="12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1"/>
              </a:rPr>
              <a:t>www.db-book.com</a:t>
            </a:r>
            <a:r>
              <a:rPr b="1" i="0" lang="en-US" sz="1200" u="none">
                <a:solidFill>
                  <a:srgbClr val="CC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pic>
        <p:nvPicPr>
          <p:cNvPr descr="Cover-6Ed"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92237" cy="170021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4481512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fld id="{00000000-1234-1234-1234-123412341234}" type="slidenum"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 - 6</a:t>
            </a:r>
            <a:r>
              <a:rPr b="1" baseline="30000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Cover-6Ed" id="29" name="Google Shape;29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3175" y="0"/>
            <a:ext cx="668337" cy="815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CC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1: Introduction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09625" y="1047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1109662" y="1163637"/>
            <a:ext cx="7119937" cy="48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Need for Databases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Models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Relational  Databases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Desig</a:t>
            </a:r>
            <a:r>
              <a:rPr lang="en-US"/>
              <a:t>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Storage Manager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Processing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Manager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4294967295" type="title"/>
          </p:nvPr>
        </p:nvSpPr>
        <p:spPr>
          <a:xfrm>
            <a:off x="866775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Management System (DBMS)</a:t>
            </a:r>
            <a:endParaRPr/>
          </a:p>
        </p:txBody>
      </p:sp>
      <p:sp>
        <p:nvSpPr>
          <p:cNvPr id="82" name="Google Shape;82;p16"/>
          <p:cNvSpPr txBox="1"/>
          <p:nvPr>
            <p:ph idx="4294967295" type="body"/>
          </p:nvPr>
        </p:nvSpPr>
        <p:spPr>
          <a:xfrm>
            <a:off x="814387" y="1093787"/>
            <a:ext cx="7688262" cy="529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DBMS contains information about a particular enterprise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Collection of interrelated data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of programs to access the data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environment that is both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convenient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efficient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use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Applications: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Banking: transactions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Airlines: reservations, schedules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Universities:  registration, grades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Sales: customers, products, purchases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Online retailers: order tracking, customized recommendations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Manufacturing: production, inventory, orders, supply chain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resources:  employee records, salaries, tax deductions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Databases can be very large.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Databases touch all aspects of our lives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University Database Example</a:t>
            </a:r>
            <a:endParaRPr/>
          </a:p>
        </p:txBody>
      </p:sp>
      <p:sp>
        <p:nvSpPr>
          <p:cNvPr id="89" name="Google Shape;89;p17"/>
          <p:cNvSpPr txBox="1"/>
          <p:nvPr>
            <p:ph idx="4294967295" type="body"/>
          </p:nvPr>
        </p:nvSpPr>
        <p:spPr>
          <a:xfrm>
            <a:off x="814387" y="1093787"/>
            <a:ext cx="6819900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 program examples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new students, instructors, and courses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Register students for courses, and generate class rosters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Assign grades to students, compute grade point averages (GPA) and generate transcripts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early days, database applications were built directly on top of file systems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4294967295" type="title"/>
          </p:nvPr>
        </p:nvSpPr>
        <p:spPr>
          <a:xfrm>
            <a:off x="901700" y="285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Drawbacks of using file systems to store data</a:t>
            </a:r>
            <a:endParaRPr/>
          </a:p>
        </p:txBody>
      </p:sp>
      <p:sp>
        <p:nvSpPr>
          <p:cNvPr id="96" name="Google Shape;96;p18"/>
          <p:cNvSpPr txBox="1"/>
          <p:nvPr>
            <p:ph idx="4294967295" type="body"/>
          </p:nvPr>
        </p:nvSpPr>
        <p:spPr>
          <a:xfrm>
            <a:off x="782637" y="782637"/>
            <a:ext cx="7580312" cy="5468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redundancy and inconsistency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file formats, duplication of information in different files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Difficulty in accessing data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write a new program to carry out each new task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isolation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files and formats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problems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  (e.g., account balance &gt; 0) become “buried” in program code rather than being stated explicitly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 to add new constraints or change existing ones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idx="4294967295" type="title"/>
          </p:nvPr>
        </p:nvSpPr>
        <p:spPr>
          <a:xfrm>
            <a:off x="827087" y="762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Drawbacks of using file systems to store data (Cont.)</a:t>
            </a:r>
            <a:endParaRPr/>
          </a:p>
        </p:txBody>
      </p:sp>
      <p:sp>
        <p:nvSpPr>
          <p:cNvPr id="103" name="Google Shape;103;p19"/>
          <p:cNvSpPr txBox="1"/>
          <p:nvPr>
            <p:ph idx="4294967295" type="body"/>
          </p:nvPr>
        </p:nvSpPr>
        <p:spPr>
          <a:xfrm>
            <a:off x="730250" y="819150"/>
            <a:ext cx="7616825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Atomicity of updates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Failures may leave database in an inconsistent state with partial updates carried out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Transfer of funds from one account to another should either complete or not happen at all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Concurrent access by multiple users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Concurrent access needed for performance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Uncontrolled concurrent accesses can lead to inconsistencies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Two people reading a balance (say 100) and updating it by withdrawing money (say 50 each) at the same time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 problems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 to provide user access to some, but not all, data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systems offer solutions to all the above problems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Levels of Abstraction</a:t>
            </a:r>
            <a:endParaRPr/>
          </a:p>
        </p:txBody>
      </p:sp>
      <p:sp>
        <p:nvSpPr>
          <p:cNvPr id="110" name="Google Shape;110;p20"/>
          <p:cNvSpPr txBox="1"/>
          <p:nvPr>
            <p:ph idx="4294967295" type="body"/>
          </p:nvPr>
        </p:nvSpPr>
        <p:spPr>
          <a:xfrm>
            <a:off x="827087" y="107791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level: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describes how a record (e.g., instructor) is stored.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level: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describes data stored in database, and the relationships among the data.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type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record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string;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string;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dept_name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string;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integer;</a:t>
            </a:r>
            <a:endParaRPr/>
          </a:p>
          <a:p>
            <a:pPr indent="-228600" lvl="4" marL="17716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level: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application programs hide details of data types.  Views can also hide information (such as an employee’s salary) for security purposes.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of Data</a:t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777875" y="1176337"/>
            <a:ext cx="45243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architecture for a database system 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987" y="1795462"/>
            <a:ext cx="7402512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Instances and Schemas</a:t>
            </a:r>
            <a:endParaRPr/>
          </a:p>
        </p:txBody>
      </p:sp>
      <p:sp>
        <p:nvSpPr>
          <p:cNvPr id="125" name="Google Shape;125;p22"/>
          <p:cNvSpPr txBox="1"/>
          <p:nvPr>
            <p:ph idx="4294967295" type="body"/>
          </p:nvPr>
        </p:nvSpPr>
        <p:spPr>
          <a:xfrm>
            <a:off x="827087" y="1077912"/>
            <a:ext cx="8110537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Similar to types and variables in programming languages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Schema</a:t>
            </a:r>
            <a:r>
              <a:rPr b="0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the overall logical structure of the database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The database consists of information about a set of customers and accounts in a bank and the relationship between them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Analogous to type information of a variable in a program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schema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the overall physical  structure of the database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the actual content of the database at a particular point in time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Analogous to the value of a variable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Data Independence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the ability to modify the physical schema without changing the logical schema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 depend on the logical schema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general, the interfaces between the various levels and components should be well defined so that changes in some parts do not seriously influence others.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Models</a:t>
            </a:r>
            <a:endParaRPr/>
          </a:p>
        </p:txBody>
      </p:sp>
      <p:sp>
        <p:nvSpPr>
          <p:cNvPr id="132" name="Google Shape;132;p23"/>
          <p:cNvSpPr txBox="1"/>
          <p:nvPr>
            <p:ph idx="4294967295" type="body"/>
          </p:nvPr>
        </p:nvSpPr>
        <p:spPr>
          <a:xfrm>
            <a:off x="855662" y="1019175"/>
            <a:ext cx="743585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collection of tools for describing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relationships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semantics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constraints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Relational model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Entity-Relationship data model (mainly for database design)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Object-based data models (Object-oriented and Object-relational)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Semistructured data model  (XML)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older models:</a:t>
            </a:r>
            <a:endParaRPr/>
          </a:p>
          <a:p>
            <a:pPr indent="-285750" lvl="1" marL="742950" marR="0" rtl="0" algn="l">
              <a:lnSpc>
                <a:spcPct val="6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Network model  </a:t>
            </a:r>
            <a:endParaRPr/>
          </a:p>
          <a:p>
            <a:pPr indent="-285750" lvl="1" marL="742950" marR="0" rtl="0" algn="l">
              <a:lnSpc>
                <a:spcPct val="6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Hierarchical model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Relational Model</a:t>
            </a:r>
            <a:endParaRPr/>
          </a:p>
        </p:txBody>
      </p:sp>
      <p:sp>
        <p:nvSpPr>
          <p:cNvPr id="139" name="Google Shape;139;p24"/>
          <p:cNvSpPr txBox="1"/>
          <p:nvPr>
            <p:ph idx="4294967295" type="body"/>
          </p:nvPr>
        </p:nvSpPr>
        <p:spPr>
          <a:xfrm>
            <a:off x="814387" y="628650"/>
            <a:ext cx="7661275" cy="89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the data is stored in various tables.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tabular data in the relational model</a:t>
            </a:r>
            <a:endParaRPr/>
          </a:p>
        </p:txBody>
      </p:sp>
      <p:cxnSp>
        <p:nvCxnSpPr>
          <p:cNvPr id="140" name="Google Shape;140;p24"/>
          <p:cNvCxnSpPr/>
          <p:nvPr/>
        </p:nvCxnSpPr>
        <p:spPr>
          <a:xfrm flipH="1">
            <a:off x="6456362" y="1609725"/>
            <a:ext cx="857250" cy="638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  <p:sp>
        <p:nvSpPr>
          <p:cNvPr id="141" name="Google Shape;141;p24"/>
          <p:cNvSpPr txBox="1"/>
          <p:nvPr/>
        </p:nvSpPr>
        <p:spPr>
          <a:xfrm>
            <a:off x="6858000" y="1322387"/>
            <a:ext cx="9842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endParaRPr/>
          </a:p>
        </p:txBody>
      </p:sp>
      <p:cxnSp>
        <p:nvCxnSpPr>
          <p:cNvPr id="142" name="Google Shape;142;p24"/>
          <p:cNvCxnSpPr/>
          <p:nvPr/>
        </p:nvCxnSpPr>
        <p:spPr>
          <a:xfrm flipH="1">
            <a:off x="5572125" y="1638300"/>
            <a:ext cx="1509712" cy="6238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  <p:pic>
        <p:nvPicPr>
          <p:cNvPr descr="1" id="143" name="Google Shape;143;p24"/>
          <p:cNvPicPr preferRelativeResize="0"/>
          <p:nvPr/>
        </p:nvPicPr>
        <p:blipFill rotWithShape="1">
          <a:blip r:embed="rId3">
            <a:alphaModFix/>
          </a:blip>
          <a:srcRect b="43330" l="0" r="0" t="0"/>
          <a:stretch/>
        </p:blipFill>
        <p:spPr>
          <a:xfrm>
            <a:off x="1614487" y="2259012"/>
            <a:ext cx="5526087" cy="3744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7696200" y="2590800"/>
            <a:ext cx="6889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endParaRPr/>
          </a:p>
        </p:txBody>
      </p:sp>
      <p:cxnSp>
        <p:nvCxnSpPr>
          <p:cNvPr id="145" name="Google Shape;145;p24"/>
          <p:cNvCxnSpPr/>
          <p:nvPr/>
        </p:nvCxnSpPr>
        <p:spPr>
          <a:xfrm flipH="1">
            <a:off x="7167562" y="2765425"/>
            <a:ext cx="527050" cy="285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  <p:cxnSp>
        <p:nvCxnSpPr>
          <p:cNvPr id="146" name="Google Shape;146;p24"/>
          <p:cNvCxnSpPr/>
          <p:nvPr/>
        </p:nvCxnSpPr>
        <p:spPr>
          <a:xfrm flipH="1">
            <a:off x="7180262" y="2841625"/>
            <a:ext cx="527050" cy="2416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Sample Relational Database</a:t>
            </a:r>
            <a:endParaRPr/>
          </a:p>
        </p:txBody>
      </p:sp>
      <p:pic>
        <p:nvPicPr>
          <p:cNvPr descr="1" id="153" name="Google Shape;1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4950" y="1408112"/>
            <a:ext cx="4170362" cy="4986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4294967295" type="title"/>
          </p:nvPr>
        </p:nvSpPr>
        <p:spPr>
          <a:xfrm>
            <a:off x="552450" y="1238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Definition Language (DDL)</a:t>
            </a:r>
            <a:endParaRPr/>
          </a:p>
        </p:txBody>
      </p:sp>
      <p:sp>
        <p:nvSpPr>
          <p:cNvPr id="160" name="Google Shape;160;p26"/>
          <p:cNvSpPr txBox="1"/>
          <p:nvPr>
            <p:ph idx="4294967295" type="body"/>
          </p:nvPr>
        </p:nvSpPr>
        <p:spPr>
          <a:xfrm>
            <a:off x="814387" y="1103312"/>
            <a:ext cx="7661275" cy="484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Specification notation for defining the database schema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	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instructor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b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(5),</a:t>
            </a:r>
            <a:b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      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dept_name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(20),</a:t>
            </a:r>
            <a:b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(8,2))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DDL compiler generates a set of table templates stored in a </a:t>
            </a:r>
            <a:r>
              <a:rPr b="1" i="1" lang="en-US" sz="1800" u="none">
                <a:solidFill>
                  <a:srgbClr val="0066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dictionary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dictionary contains metadata (i.e., data about data)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schema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(ID uniquely identifies instructors)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Authorization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can access what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Manipulation Language (DML)</a:t>
            </a:r>
            <a:endParaRPr/>
          </a:p>
        </p:txBody>
      </p:sp>
      <p:sp>
        <p:nvSpPr>
          <p:cNvPr id="167" name="Google Shape;167;p27"/>
          <p:cNvSpPr txBox="1"/>
          <p:nvPr>
            <p:ph idx="4294967295" type="body"/>
          </p:nvPr>
        </p:nvSpPr>
        <p:spPr>
          <a:xfrm>
            <a:off x="952500" y="1019175"/>
            <a:ext cx="6888162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Language for accessing and manipulating the data organized by the appropriate data model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also known as query language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classes of languages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Pure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used for proving properties about computational power and for optimization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Relational Algebra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 relational calculus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relational calculus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Commercial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used in commercial systems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is the most widely used commercial language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idx="4294967295" type="title"/>
          </p:nvPr>
        </p:nvSpPr>
        <p:spPr>
          <a:xfrm>
            <a:off x="552450" y="8096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</a:t>
            </a:r>
            <a:endParaRPr/>
          </a:p>
        </p:txBody>
      </p:sp>
      <p:sp>
        <p:nvSpPr>
          <p:cNvPr id="174" name="Google Shape;174;p28"/>
          <p:cNvSpPr txBox="1"/>
          <p:nvPr>
            <p:ph idx="4294967295" type="body"/>
          </p:nvPr>
        </p:nvSpPr>
        <p:spPr>
          <a:xfrm>
            <a:off x="735012" y="1125537"/>
            <a:ext cx="7302500" cy="5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most widely used commercial language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is NOT a Turing machine equivalent language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is NOT a Turing machine equivalent language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be able to compute complex functions SQL is usually embedded in some higher-level language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 programs generally access databases through one of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Language extensions to allow embedded SQL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 program interface (e.g., ODBC/JDBC) which allow SQL queries to be sent to a database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Design</a:t>
            </a:r>
            <a:endParaRPr/>
          </a:p>
        </p:txBody>
      </p:sp>
      <p:sp>
        <p:nvSpPr>
          <p:cNvPr id="181" name="Google Shape;181;p29"/>
          <p:cNvSpPr txBox="1"/>
          <p:nvPr>
            <p:ph idx="4294967295" type="body"/>
          </p:nvPr>
        </p:nvSpPr>
        <p:spPr>
          <a:xfrm>
            <a:off x="1270000" y="1257300"/>
            <a:ext cx="6654800" cy="422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Design –  Deciding on the database schema. Database design requires that we find a “good” collection of relation schemas.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 decision – What attributes should we record in the database?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Science decision –  What relation schemas should we have and how should the attributes be distributed among the various relation schemas?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Design – Deciding on the physical layout of the database             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endParaRPr/>
          </a:p>
        </p:txBody>
      </p:sp>
      <p:sp>
        <p:nvSpPr>
          <p:cNvPr id="182" name="Google Shape;182;p29"/>
          <p:cNvSpPr txBox="1"/>
          <p:nvPr/>
        </p:nvSpPr>
        <p:spPr>
          <a:xfrm>
            <a:off x="927100" y="1074737"/>
            <a:ext cx="7327900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process of designing the general structure of the database: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Design (Cont.)</a:t>
            </a:r>
            <a:endParaRPr/>
          </a:p>
        </p:txBody>
      </p:sp>
      <p:sp>
        <p:nvSpPr>
          <p:cNvPr id="189" name="Google Shape;189;p30"/>
          <p:cNvSpPr txBox="1"/>
          <p:nvPr>
            <p:ph idx="4294967295" type="body"/>
          </p:nvPr>
        </p:nvSpPr>
        <p:spPr>
          <a:xfrm>
            <a:off x="814387" y="1093787"/>
            <a:ext cx="7661275" cy="865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there any problem with this relation?</a:t>
            </a:r>
            <a:endParaRPr/>
          </a:p>
        </p:txBody>
      </p:sp>
      <p:pic>
        <p:nvPicPr>
          <p:cNvPr descr="1" id="190" name="Google Shape;19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962" y="1719262"/>
            <a:ext cx="7023100" cy="3757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Approaches</a:t>
            </a:r>
            <a:endParaRPr/>
          </a:p>
        </p:txBody>
      </p:sp>
      <p:sp>
        <p:nvSpPr>
          <p:cNvPr id="197" name="Google Shape;197;p31"/>
          <p:cNvSpPr txBox="1"/>
          <p:nvPr>
            <p:ph idx="4294967295" type="body"/>
          </p:nvPr>
        </p:nvSpPr>
        <p:spPr>
          <a:xfrm>
            <a:off x="814387" y="1093787"/>
            <a:ext cx="715168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come up with a methodology to ensure that each of the relations in the database is “good”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ways of doing so: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Relationship Model (Chapter 7)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Models an enterprise as a collection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entities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Represented diagrammatically by an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entity-relationship diagram: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Normalization Theory (Chapter 8)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Formalize what designs are bad, and test for them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Object-Relational Data Models</a:t>
            </a:r>
            <a:endParaRPr/>
          </a:p>
        </p:txBody>
      </p:sp>
      <p:sp>
        <p:nvSpPr>
          <p:cNvPr id="204" name="Google Shape;204;p32"/>
          <p:cNvSpPr txBox="1"/>
          <p:nvPr>
            <p:ph idx="4294967295" type="body"/>
          </p:nvPr>
        </p:nvSpPr>
        <p:spPr>
          <a:xfrm>
            <a:off x="857250" y="110807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Relational model: flat, “atomic” values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 Relational Data Models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Extend the relational data model by including object orientation and constructs to deal with added data types.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 attributes of tuples to have complex types, including non-atomic values such as nested relations.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Preserve relational foundations, in particular the declarative access to data, while extending modeling power.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 upward compatibility with existing relational languages.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XML:  Extensible Markup Language</a:t>
            </a:r>
            <a:endParaRPr/>
          </a:p>
        </p:txBody>
      </p:sp>
      <p:sp>
        <p:nvSpPr>
          <p:cNvPr id="211" name="Google Shape;211;p33"/>
          <p:cNvSpPr txBox="1"/>
          <p:nvPr>
            <p:ph idx="4294967295" type="body"/>
          </p:nvPr>
        </p:nvSpPr>
        <p:spPr>
          <a:xfrm>
            <a:off x="827087" y="1077912"/>
            <a:ext cx="7316787" cy="5167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Defined by the WWW Consortium (W3C)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Originally intended as a document markup language not a database language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ability to specify new tags, and to create nested tag structures made XML a great way to exchange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not just documents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XML has become the basis for all new generation data interchange formats.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wide variety of tools is available for parsing, browsing and querying XML documents/data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Engine</a:t>
            </a:r>
            <a:endParaRPr/>
          </a:p>
        </p:txBody>
      </p:sp>
      <p:sp>
        <p:nvSpPr>
          <p:cNvPr id="218" name="Google Shape;218;p34"/>
          <p:cNvSpPr txBox="1"/>
          <p:nvPr>
            <p:ph idx="4294967295" type="body"/>
          </p:nvPr>
        </p:nvSpPr>
        <p:spPr>
          <a:xfrm>
            <a:off x="827087" y="1077912"/>
            <a:ext cx="7316787" cy="5167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Storage manager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processing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manager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Storage Management</a:t>
            </a:r>
            <a:endParaRPr/>
          </a:p>
        </p:txBody>
      </p:sp>
      <p:sp>
        <p:nvSpPr>
          <p:cNvPr id="225" name="Google Shape;225;p35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Storage 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program module that provides the interface between the low-level data stored in the database and the application programs and queries submitted to the system.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storage manager is responsible to the following tasks: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Interaction with the OS file manager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Efficient storing, retrieving and updating of data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Issues: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Storage access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 organization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Indexing and hashing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idx="4294967295" type="title"/>
          </p:nvPr>
        </p:nvSpPr>
        <p:spPr>
          <a:xfrm>
            <a:off x="1116012" y="117475"/>
            <a:ext cx="69310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Processing</a:t>
            </a:r>
            <a:endParaRPr/>
          </a:p>
        </p:txBody>
      </p:sp>
      <p:sp>
        <p:nvSpPr>
          <p:cNvPr id="232" name="Google Shape;232;p36"/>
          <p:cNvSpPr txBox="1"/>
          <p:nvPr>
            <p:ph idx="4294967295" type="body"/>
          </p:nvPr>
        </p:nvSpPr>
        <p:spPr>
          <a:xfrm>
            <a:off x="814387" y="1084262"/>
            <a:ext cx="6545262" cy="1379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	Parsing and translation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	Optimization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	Evaluation</a:t>
            </a:r>
            <a:endParaRPr/>
          </a:p>
        </p:txBody>
      </p:sp>
      <p:pic>
        <p:nvPicPr>
          <p:cNvPr id="233" name="Google Shape;23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325" y="2417762"/>
            <a:ext cx="6115050" cy="367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idx="4294967295" type="title"/>
          </p:nvPr>
        </p:nvSpPr>
        <p:spPr>
          <a:xfrm>
            <a:off x="1422400" y="139700"/>
            <a:ext cx="6611937" cy="582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Processing (Cont.)</a:t>
            </a:r>
            <a:endParaRPr/>
          </a:p>
        </p:txBody>
      </p:sp>
      <p:sp>
        <p:nvSpPr>
          <p:cNvPr id="240" name="Google Shape;240;p37"/>
          <p:cNvSpPr txBox="1"/>
          <p:nvPr>
            <p:ph idx="4294967295" type="body"/>
          </p:nvPr>
        </p:nvSpPr>
        <p:spPr>
          <a:xfrm>
            <a:off x="827087" y="1077912"/>
            <a:ext cx="7285037" cy="523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Alternative ways of evaluating a given query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Equivalent expressions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Different algorithms for each operation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Cost difference between a good and a bad way of evaluating a query can be enormous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estimate the cost of operations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Depends critically on statistical information about relations which the database must maintain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estimate statistics for intermediate results to compute cost of complex expressions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Management	</a:t>
            </a:r>
            <a:endParaRPr/>
          </a:p>
        </p:txBody>
      </p:sp>
      <p:sp>
        <p:nvSpPr>
          <p:cNvPr id="247" name="Google Shape;247;p38"/>
          <p:cNvSpPr txBox="1"/>
          <p:nvPr>
            <p:ph idx="4294967295" type="body"/>
          </p:nvPr>
        </p:nvSpPr>
        <p:spPr>
          <a:xfrm>
            <a:off x="827087" y="1077912"/>
            <a:ext cx="706278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if the system fails?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if more than one user is concurrently updating the same data?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collection of operations that performs a single logical function in a database application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Transaction-management component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ensures that the database remains in a consistent (correct) state despite system failures (e.g., power failures and operating system crashes) and transaction failures.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Concurrency-control 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controls the interaction among the concurrent transactions, to ensure the consistency of the database.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idx="4294967295" type="title"/>
          </p:nvPr>
        </p:nvSpPr>
        <p:spPr>
          <a:xfrm>
            <a:off x="768350" y="23495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Users and Administrators</a:t>
            </a:r>
            <a:endParaRPr/>
          </a:p>
        </p:txBody>
      </p:sp>
      <p:sp>
        <p:nvSpPr>
          <p:cNvPr id="254" name="Google Shape;254;p39"/>
          <p:cNvSpPr txBox="1"/>
          <p:nvPr/>
        </p:nvSpPr>
        <p:spPr>
          <a:xfrm>
            <a:off x="3729037" y="4510087"/>
            <a:ext cx="1717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rgbClr val="0000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</a:t>
            </a:r>
            <a:endParaRPr/>
          </a:p>
        </p:txBody>
      </p:sp>
      <p:pic>
        <p:nvPicPr>
          <p:cNvPr descr="1" id="255" name="Google Shape;25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887" y="1693862"/>
            <a:ext cx="5916612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Internals</a:t>
            </a:r>
            <a:endParaRPr/>
          </a:p>
        </p:txBody>
      </p:sp>
      <p:sp>
        <p:nvSpPr>
          <p:cNvPr id="262" name="Google Shape;262;p40"/>
          <p:cNvSpPr txBox="1"/>
          <p:nvPr/>
        </p:nvSpPr>
        <p:spPr>
          <a:xfrm>
            <a:off x="6388100" y="2544762"/>
            <a:ext cx="1231900" cy="211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40"/>
          <p:cNvSpPr txBox="1"/>
          <p:nvPr/>
        </p:nvSpPr>
        <p:spPr>
          <a:xfrm>
            <a:off x="6527800" y="4144962"/>
            <a:ext cx="1231900" cy="211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40"/>
          <p:cNvSpPr txBox="1"/>
          <p:nvPr/>
        </p:nvSpPr>
        <p:spPr>
          <a:xfrm>
            <a:off x="6477000" y="5084762"/>
            <a:ext cx="1231900" cy="211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5" name="Google Shape;26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4025" y="900112"/>
            <a:ext cx="3802062" cy="546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4294967295" type="title"/>
          </p:nvPr>
        </p:nvSpPr>
        <p:spPr>
          <a:xfrm>
            <a:off x="638175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Architecture</a:t>
            </a:r>
            <a:endParaRPr/>
          </a:p>
        </p:txBody>
      </p:sp>
      <p:sp>
        <p:nvSpPr>
          <p:cNvPr id="272" name="Google Shape;272;p41"/>
          <p:cNvSpPr txBox="1"/>
          <p:nvPr>
            <p:ph idx="4294967295" type="body"/>
          </p:nvPr>
        </p:nvSpPr>
        <p:spPr>
          <a:xfrm>
            <a:off x="854075" y="1152525"/>
            <a:ext cx="7607300" cy="2990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architecture of a database systems is greatly influenced by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underlying computer system on which the database is running: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Centralized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Client-server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Parallel (multi-processor)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Distributed    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History of Database Systems</a:t>
            </a:r>
            <a:endParaRPr/>
          </a:p>
        </p:txBody>
      </p:sp>
      <p:sp>
        <p:nvSpPr>
          <p:cNvPr id="279" name="Google Shape;279;p42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1950s and early 1960s: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processing using magnetic tapes for storage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Tapes provided only sequential access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Punched cards for input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 1960s and 1970s: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 disks allowed direct access to data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Network and hierarchical data models in widespread use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Ted Codd defines the relational data model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Would win the ACM Turing Award for this work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IBM Research begins System R prototype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UC Berkeley begins Ingres prototype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High-performance (for the era) transaction processing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History (cont.)</a:t>
            </a:r>
            <a:endParaRPr/>
          </a:p>
        </p:txBody>
      </p:sp>
      <p:sp>
        <p:nvSpPr>
          <p:cNvPr id="286" name="Google Shape;286;p43"/>
          <p:cNvSpPr txBox="1"/>
          <p:nvPr>
            <p:ph idx="4294967295" type="body"/>
          </p:nvPr>
        </p:nvSpPr>
        <p:spPr>
          <a:xfrm>
            <a:off x="814387" y="1093787"/>
            <a:ext cx="7661275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1980s: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 relational prototypes evolve into commercial systems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becomes industrial standard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Parallel and distributed database systems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Object-oriented database systems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1990s: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 decision support and data-mining applications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 multi-terabyte data warehouses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Emergence of Web commerce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Early 2000s: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XML and XQuery standards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database administration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Later 2000s: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Giant data storage systems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Google BigTable, Yahoo PNuts, Amazon, ..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>
            <p:ph idx="4294967295"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 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